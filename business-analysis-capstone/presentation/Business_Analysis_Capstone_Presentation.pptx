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0"/>
  </p:notesMasterIdLst>
  <p:handoutMasterIdLst>
    <p:handoutMasterId r:id="rId21"/>
  </p:handout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09" autoAdjust="0"/>
  </p:normalViewPr>
  <p:slideViewPr>
    <p:cSldViewPr snapToGrid="0">
      <p:cViewPr varScale="1">
        <p:scale>
          <a:sx n="79" d="100"/>
          <a:sy n="79" d="100"/>
        </p:scale>
        <p:origin x="72" y="14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4">
            <a:extLst>
              <a:ext uri="{FF2B5EF4-FFF2-40B4-BE49-F238E27FC236}">
                <a16:creationId xmlns:a16="http://schemas.microsoft.com/office/drawing/2014/main" id="{5224067C-F3FB-B30F-5462-45F976660C2A}"/>
              </a:ext>
            </a:extLst>
          </p:cNvPr>
          <p:cNvSpPr txBox="1">
            <a:spLocks/>
          </p:cNvSpPr>
          <p:nvPr/>
        </p:nvSpPr>
        <p:spPr>
          <a:xfrm>
            <a:off x="1933997" y="2419923"/>
            <a:ext cx="8663163" cy="11222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/>
              <a:t>Integrated Business Intelligence Analysis</a:t>
            </a:r>
          </a:p>
          <a:p>
            <a:pPr algn="ctr"/>
            <a:br>
              <a:rPr lang="en-US" sz="3600" dirty="0"/>
            </a:br>
            <a:r>
              <a:rPr lang="en-US" sz="3600" i="1" dirty="0">
                <a:solidFill>
                  <a:schemeClr val="bg2">
                    <a:lumMod val="50000"/>
                  </a:schemeClr>
                </a:solidFill>
              </a:rPr>
              <a:t>End-to-End Business Data Analysis Capstone Project</a:t>
            </a:r>
            <a:endParaRPr 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6" name="Subtitle 6">
            <a:extLst>
              <a:ext uri="{FF2B5EF4-FFF2-40B4-BE49-F238E27FC236}">
                <a16:creationId xmlns:a16="http://schemas.microsoft.com/office/drawing/2014/main" id="{B04DBE5E-96EC-3233-D36B-A35D48C541A5}"/>
              </a:ext>
            </a:extLst>
          </p:cNvPr>
          <p:cNvSpPr txBox="1">
            <a:spLocks/>
          </p:cNvSpPr>
          <p:nvPr/>
        </p:nvSpPr>
        <p:spPr>
          <a:xfrm>
            <a:off x="9790420" y="5473601"/>
            <a:ext cx="2282898" cy="93529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BY:</a:t>
            </a:r>
          </a:p>
          <a:p>
            <a:pPr marL="0" indent="0">
              <a:buNone/>
            </a:pPr>
            <a:r>
              <a:rPr lang="en-US" dirty="0"/>
              <a:t>ABINAYA KN 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0DF7D-3FD6-23E2-CC8A-8F9BB502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6172C3-806A-8110-B882-1AA38CC9790A}"/>
              </a:ext>
            </a:extLst>
          </p:cNvPr>
          <p:cNvSpPr txBox="1"/>
          <p:nvPr/>
        </p:nvSpPr>
        <p:spPr>
          <a:xfrm>
            <a:off x="637248" y="1544532"/>
            <a:ext cx="109019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/>
              <a:t>This project presents a complete end-to-end business data analysis workflow.</a:t>
            </a:r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r>
              <a:rPr lang="en-US" sz="2800" dirty="0"/>
              <a:t>The analysis was performed on three business datasets: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Sales performance data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Customer churn data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Housing market price data</a:t>
            </a:r>
          </a:p>
          <a:p>
            <a:pPr algn="just"/>
            <a:endParaRPr lang="en-US" sz="2800" dirty="0"/>
          </a:p>
          <a:p>
            <a:pPr algn="just">
              <a:buNone/>
            </a:pPr>
            <a:r>
              <a:rPr lang="en-US" sz="2800" dirty="0"/>
              <a:t>The goal was to transform raw data into actionable business insights using structured analytical techniques.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83ECC8-30E8-D8D7-83C5-97EB93490901}"/>
              </a:ext>
            </a:extLst>
          </p:cNvPr>
          <p:cNvSpPr/>
          <p:nvPr/>
        </p:nvSpPr>
        <p:spPr>
          <a:xfrm>
            <a:off x="517890" y="663547"/>
            <a:ext cx="11086089" cy="76065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84269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38B33-15BD-5B79-1F85-AE762E2C2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9F69AD-B775-34D0-4BF7-36C4415612C1}"/>
              </a:ext>
            </a:extLst>
          </p:cNvPr>
          <p:cNvSpPr txBox="1"/>
          <p:nvPr/>
        </p:nvSpPr>
        <p:spPr>
          <a:xfrm>
            <a:off x="517889" y="2090172"/>
            <a:ext cx="1108608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/>
              <a:t>Organizations face several operational challenges:</a:t>
            </a:r>
          </a:p>
          <a:p>
            <a:pPr algn="just">
              <a:buNone/>
            </a:pPr>
            <a:endParaRPr lang="en-US" sz="2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Uneven sales performance across regions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Customer attrition affecting revenue stability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Difficulty in determining accurate pricing strategies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Limited use of data for decision-making</a:t>
            </a:r>
          </a:p>
          <a:p>
            <a:pPr algn="just">
              <a:buNone/>
            </a:pPr>
            <a:r>
              <a:rPr lang="en-US" sz="2800" dirty="0"/>
              <a:t>This project aims to solve these challenges using data-driven analysis.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74B829-9E0F-02E6-6061-9BC67A3E432B}"/>
              </a:ext>
            </a:extLst>
          </p:cNvPr>
          <p:cNvSpPr/>
          <p:nvPr/>
        </p:nvSpPr>
        <p:spPr>
          <a:xfrm>
            <a:off x="517890" y="663547"/>
            <a:ext cx="11086089" cy="76065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32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Business Problem</a:t>
            </a:r>
            <a:endParaRPr lang="en-US" sz="3200" b="1" dirty="0"/>
          </a:p>
          <a:p>
            <a:endParaRPr lang="en-IN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52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F4506-0EA9-0926-A4A5-D5DFAC526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AFF7C6-54B1-6089-DFF3-4384F1E476C7}"/>
              </a:ext>
            </a:extLst>
          </p:cNvPr>
          <p:cNvSpPr txBox="1"/>
          <p:nvPr/>
        </p:nvSpPr>
        <p:spPr>
          <a:xfrm>
            <a:off x="445061" y="2094790"/>
            <a:ext cx="1108608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The key objectives of this project were:</a:t>
            </a:r>
          </a:p>
          <a:p>
            <a:pPr>
              <a:buNone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Perform data cleaning and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Conduct exploratory data analysis (EDA)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Identify business trends and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Calculate key performance indicators (KPIs)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Generate actionable business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Build a reproducible analytics workflow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DB582F-2256-063E-67B9-F74B9B0A5CE7}"/>
              </a:ext>
            </a:extLst>
          </p:cNvPr>
          <p:cNvSpPr/>
          <p:nvPr/>
        </p:nvSpPr>
        <p:spPr>
          <a:xfrm>
            <a:off x="517890" y="663547"/>
            <a:ext cx="11086089" cy="76065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Project Objectives</a:t>
            </a:r>
          </a:p>
        </p:txBody>
      </p:sp>
    </p:spTree>
    <p:extLst>
      <p:ext uri="{BB962C8B-B14F-4D97-AF65-F5344CB8AC3E}">
        <p14:creationId xmlns:p14="http://schemas.microsoft.com/office/powerpoint/2010/main" val="419644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AEC29-1CDF-0CA9-412C-FAA0DA232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F313B9-D281-C48B-BAA8-022D8D880EDD}"/>
              </a:ext>
            </a:extLst>
          </p:cNvPr>
          <p:cNvSpPr txBox="1"/>
          <p:nvPr/>
        </p:nvSpPr>
        <p:spPr>
          <a:xfrm>
            <a:off x="606903" y="1726909"/>
            <a:ext cx="109970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Three datasets were </a:t>
            </a:r>
            <a:r>
              <a:rPr lang="en-IN" sz="2400" dirty="0" err="1"/>
              <a:t>analyzed</a:t>
            </a:r>
            <a:r>
              <a:rPr lang="en-IN" sz="2400" dirty="0"/>
              <a:t>: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dirty="0"/>
              <a:t>Sales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Product sales transactions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100 records</a:t>
            </a:r>
          </a:p>
          <a:p>
            <a:pPr>
              <a:buNone/>
            </a:pPr>
            <a:r>
              <a:rPr lang="en-IN" sz="2400" dirty="0"/>
              <a:t>House Prices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Real estate property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300 records</a:t>
            </a:r>
          </a:p>
          <a:p>
            <a:pPr>
              <a:buNone/>
            </a:pPr>
            <a:r>
              <a:rPr lang="en-IN" sz="2400" dirty="0"/>
              <a:t>Customer Churn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Customer retention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500 records</a:t>
            </a:r>
          </a:p>
          <a:p>
            <a:endParaRPr lang="en-IN" sz="2400" dirty="0"/>
          </a:p>
          <a:p>
            <a:pPr>
              <a:buNone/>
            </a:pPr>
            <a:r>
              <a:rPr lang="en-IN" sz="2400" dirty="0"/>
              <a:t>Total records </a:t>
            </a:r>
            <a:r>
              <a:rPr lang="en-IN" sz="2400" dirty="0" err="1"/>
              <a:t>analyzed</a:t>
            </a:r>
            <a:r>
              <a:rPr lang="en-IN" sz="2400" dirty="0"/>
              <a:t>: 900+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041457D-6F5A-BD6F-C09B-EA0850E7947F}"/>
              </a:ext>
            </a:extLst>
          </p:cNvPr>
          <p:cNvSpPr/>
          <p:nvPr/>
        </p:nvSpPr>
        <p:spPr>
          <a:xfrm>
            <a:off x="517890" y="663547"/>
            <a:ext cx="11086089" cy="76065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lang="en-IN" sz="3200" b="1" dirty="0" err="1">
                <a:solidFill>
                  <a:schemeClr val="accent1">
                    <a:lumMod val="50000"/>
                  </a:schemeClr>
                </a:solidFill>
              </a:rPr>
              <a:t>atasets</a:t>
            </a: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 Used</a:t>
            </a:r>
          </a:p>
        </p:txBody>
      </p:sp>
    </p:spTree>
    <p:extLst>
      <p:ext uri="{BB962C8B-B14F-4D97-AF65-F5344CB8AC3E}">
        <p14:creationId xmlns:p14="http://schemas.microsoft.com/office/powerpoint/2010/main" val="3054985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4AB01-AE2A-4EA3-BFD0-1CBCD602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6D9874-BE29-2E3A-D335-040CC4B91017}"/>
              </a:ext>
            </a:extLst>
          </p:cNvPr>
          <p:cNvSpPr txBox="1"/>
          <p:nvPr/>
        </p:nvSpPr>
        <p:spPr>
          <a:xfrm>
            <a:off x="517890" y="1311411"/>
            <a:ext cx="111562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The project followed a structured analytical workflow:</a:t>
            </a:r>
          </a:p>
          <a:p>
            <a:pPr algn="ctr">
              <a:buNone/>
            </a:pPr>
            <a:r>
              <a:rPr lang="en-IN" sz="2400" dirty="0"/>
              <a:t>Raw Data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Data Cleaning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Exploratory Data Analysis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Advanced Analysis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Business Insights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Recommendations</a:t>
            </a:r>
          </a:p>
          <a:p>
            <a:pPr algn="ctr">
              <a:buNone/>
            </a:pPr>
            <a:r>
              <a:rPr lang="en-IN" sz="2400" dirty="0"/>
              <a:t>Python and </a:t>
            </a:r>
            <a:r>
              <a:rPr lang="en-IN" sz="2400" dirty="0" err="1"/>
              <a:t>Jupyter</a:t>
            </a:r>
            <a:r>
              <a:rPr lang="en-IN" sz="2400" dirty="0"/>
              <a:t> Notebook were used to ensure reproducibility.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D197EF-C3DB-F27A-FAB2-87E3D0EEBAF8}"/>
              </a:ext>
            </a:extLst>
          </p:cNvPr>
          <p:cNvSpPr/>
          <p:nvPr/>
        </p:nvSpPr>
        <p:spPr>
          <a:xfrm>
            <a:off x="517890" y="663547"/>
            <a:ext cx="11086089" cy="76065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lang="en-IN" sz="3200" b="1" dirty="0" err="1">
                <a:solidFill>
                  <a:schemeClr val="accent1">
                    <a:lumMod val="50000"/>
                  </a:schemeClr>
                </a:solidFill>
              </a:rPr>
              <a:t>ethodology</a:t>
            </a:r>
            <a:endParaRPr lang="en-IN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684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E46F0-DEEB-4E99-2D42-5AC100A71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F499FB-DC36-F412-9E80-C18317AF9F7D}"/>
              </a:ext>
            </a:extLst>
          </p:cNvPr>
          <p:cNvSpPr txBox="1"/>
          <p:nvPr/>
        </p:nvSpPr>
        <p:spPr>
          <a:xfrm>
            <a:off x="517889" y="1486954"/>
            <a:ext cx="1108608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dirty="0"/>
              <a:t>The following tools were used:</a:t>
            </a:r>
          </a:p>
          <a:p>
            <a:pPr>
              <a:buNone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Pandas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NumPy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Matplotlib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Jupyter</a:t>
            </a:r>
            <a:r>
              <a:rPr lang="en-US" sz="2800" dirty="0"/>
              <a:t> Notebook</a:t>
            </a:r>
          </a:p>
          <a:p>
            <a:endParaRPr lang="en-US" sz="2800" dirty="0"/>
          </a:p>
          <a:p>
            <a:pPr>
              <a:buNone/>
            </a:pPr>
            <a:r>
              <a:rPr lang="en-US" sz="2800" dirty="0"/>
              <a:t>These tools enabled efficient data manipulation, visualization, and analysis.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E91749-DBFC-9B89-4C2F-2B3C5B047AE2}"/>
              </a:ext>
            </a:extLst>
          </p:cNvPr>
          <p:cNvSpPr/>
          <p:nvPr/>
        </p:nvSpPr>
        <p:spPr>
          <a:xfrm>
            <a:off x="517890" y="663547"/>
            <a:ext cx="11086089" cy="76065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IN" sz="3200" b="1" dirty="0" err="1">
                <a:solidFill>
                  <a:schemeClr val="accent1">
                    <a:lumMod val="50000"/>
                  </a:schemeClr>
                </a:solidFill>
              </a:rPr>
              <a:t>ools</a:t>
            </a: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 &amp; Technologies</a:t>
            </a:r>
          </a:p>
        </p:txBody>
      </p:sp>
    </p:spTree>
    <p:extLst>
      <p:ext uri="{BB962C8B-B14F-4D97-AF65-F5344CB8AC3E}">
        <p14:creationId xmlns:p14="http://schemas.microsoft.com/office/powerpoint/2010/main" val="401635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F411B-FE3A-6AB5-E83D-D9FE64CE1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2B5FD7-A8F0-88D6-1B9D-79DEA358227F}"/>
              </a:ext>
            </a:extLst>
          </p:cNvPr>
          <p:cNvSpPr txBox="1"/>
          <p:nvPr/>
        </p:nvSpPr>
        <p:spPr>
          <a:xfrm>
            <a:off x="420786" y="2419406"/>
            <a:ext cx="97428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/>
              <a:t>During exploratory analysis:</a:t>
            </a:r>
          </a:p>
          <a:p>
            <a:pPr algn="just">
              <a:buNone/>
            </a:pPr>
            <a:endParaRPr lang="en-US" sz="2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Data distributions were examined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Relationships between variables were analyzed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Regional sales performance was compared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Pricing patterns were identified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64A598-E6FB-2B16-07A2-4464E12F9D1A}"/>
              </a:ext>
            </a:extLst>
          </p:cNvPr>
          <p:cNvSpPr/>
          <p:nvPr/>
        </p:nvSpPr>
        <p:spPr>
          <a:xfrm>
            <a:off x="517890" y="663547"/>
            <a:ext cx="11086089" cy="76065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IN" sz="3200" b="1" dirty="0" err="1">
                <a:solidFill>
                  <a:schemeClr val="accent1">
                    <a:lumMod val="50000"/>
                  </a:schemeClr>
                </a:solidFill>
              </a:rPr>
              <a:t>xploratory</a:t>
            </a: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146738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0F185-8A47-7F7B-18AB-E2A47954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085BA3-9DA6-DE92-3663-CD0DEF5B021E}"/>
              </a:ext>
            </a:extLst>
          </p:cNvPr>
          <p:cNvSpPr txBox="1"/>
          <p:nvPr/>
        </p:nvSpPr>
        <p:spPr>
          <a:xfrm>
            <a:off x="542166" y="1554494"/>
            <a:ext cx="67002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/>
              <a:t>Key observations from sales data: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Majority of transactions fall within mid-revenue ranges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Regional variations significantly affect revenue totals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Certain product categories contribute higher revenue</a:t>
            </a:r>
          </a:p>
          <a:p>
            <a:pPr algn="just">
              <a:buNone/>
            </a:pPr>
            <a:r>
              <a:rPr lang="en-US" sz="2800" dirty="0"/>
              <a:t>This indicates opportunities for targeted marketing.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ED19B5-AB84-BEA5-E36F-311F4EE10399}"/>
              </a:ext>
            </a:extLst>
          </p:cNvPr>
          <p:cNvSpPr/>
          <p:nvPr/>
        </p:nvSpPr>
        <p:spPr>
          <a:xfrm>
            <a:off x="542166" y="663547"/>
            <a:ext cx="11086089" cy="76065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ales Analysis Findings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28868D-CA40-D120-3D30-C78B3C9DA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520" y="1921263"/>
            <a:ext cx="3815715" cy="335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050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ACA4C-80A5-9E9C-3545-DF1293F2D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8AEB3A-617B-243E-6E43-B45A7D0D4BB0}"/>
              </a:ext>
            </a:extLst>
          </p:cNvPr>
          <p:cNvSpPr txBox="1"/>
          <p:nvPr/>
        </p:nvSpPr>
        <p:spPr>
          <a:xfrm>
            <a:off x="5506631" y="2080476"/>
            <a:ext cx="609734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/>
              <a:t>Key observations: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Overall churn rate approximately 10%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Customers with longer tenure show higher retention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Contract duration influences churn likelihood</a:t>
            </a:r>
          </a:p>
          <a:p>
            <a:pPr algn="just">
              <a:buNone/>
            </a:pPr>
            <a:r>
              <a:rPr lang="en-US" sz="2800" dirty="0"/>
              <a:t>This suggests retention strategies can reduce revenue loss.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CF769D-0AE0-4CDE-FC02-1636781174C6}"/>
              </a:ext>
            </a:extLst>
          </p:cNvPr>
          <p:cNvSpPr/>
          <p:nvPr/>
        </p:nvSpPr>
        <p:spPr>
          <a:xfrm>
            <a:off x="517890" y="663547"/>
            <a:ext cx="11086089" cy="76065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lang="en-IN" sz="3200" b="1" dirty="0" err="1">
                <a:solidFill>
                  <a:schemeClr val="accent1">
                    <a:lumMod val="50000"/>
                  </a:schemeClr>
                </a:solidFill>
              </a:rPr>
              <a:t>ustomer</a:t>
            </a: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 Churn Findings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E34B4C-50CF-BF51-70B5-9EFEC3A73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21" y="2246764"/>
            <a:ext cx="4137852" cy="337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263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42A09-D650-9944-98CF-FF340A436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C46944-B22D-7F7A-C567-64889235589A}"/>
              </a:ext>
            </a:extLst>
          </p:cNvPr>
          <p:cNvSpPr txBox="1"/>
          <p:nvPr/>
        </p:nvSpPr>
        <p:spPr>
          <a:xfrm>
            <a:off x="5506631" y="1692058"/>
            <a:ext cx="609734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lang="en-US" sz="2800" b="1" dirty="0"/>
          </a:p>
          <a:p>
            <a:pPr algn="just">
              <a:buNone/>
            </a:pPr>
            <a:r>
              <a:rPr lang="en-US" sz="2800" dirty="0"/>
              <a:t>Key observations: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Property area strongly correlates with price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Houses dominate market listings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Mid-price properties show higher frequency</a:t>
            </a:r>
          </a:p>
          <a:p>
            <a:pPr algn="just">
              <a:buNone/>
            </a:pPr>
            <a:r>
              <a:rPr lang="en-US" sz="2800" dirty="0"/>
              <a:t>This supports data-driven pricing decisions.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F89CD8-7DE9-0375-2BD5-AD152F714568}"/>
              </a:ext>
            </a:extLst>
          </p:cNvPr>
          <p:cNvSpPr/>
          <p:nvPr/>
        </p:nvSpPr>
        <p:spPr>
          <a:xfrm>
            <a:off x="517890" y="663547"/>
            <a:ext cx="11086089" cy="76065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H</a:t>
            </a:r>
            <a:r>
              <a:rPr lang="en-IN" sz="3200" b="1" dirty="0" err="1">
                <a:solidFill>
                  <a:schemeClr val="accent1">
                    <a:lumMod val="50000"/>
                  </a:schemeClr>
                </a:solidFill>
              </a:rPr>
              <a:t>ousing</a:t>
            </a: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 Market Findings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4F994A-4436-1BA1-1F9F-75A12A9F6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78" y="2239726"/>
            <a:ext cx="4102735" cy="342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46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27F24-BF1D-DE68-913D-920B650D4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7C5662-1849-539F-8091-7D9D4332DFEA}"/>
              </a:ext>
            </a:extLst>
          </p:cNvPr>
          <p:cNvSpPr txBox="1"/>
          <p:nvPr/>
        </p:nvSpPr>
        <p:spPr>
          <a:xfrm>
            <a:off x="484173" y="1815042"/>
            <a:ext cx="1122365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The following KPIs were calculated:</a:t>
            </a:r>
          </a:p>
          <a:p>
            <a:pPr>
              <a:buNone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Total Sales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Average Property 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Customer Churn Rate</a:t>
            </a:r>
          </a:p>
          <a:p>
            <a:endParaRPr lang="en-US" sz="2800" dirty="0"/>
          </a:p>
          <a:p>
            <a:pPr>
              <a:buNone/>
            </a:pPr>
            <a:r>
              <a:rPr lang="en-US" sz="2800" dirty="0"/>
              <a:t>These metrics provide measurable indicators of business performance.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978B5C-F084-787E-7A23-5B0E6F632393}"/>
              </a:ext>
            </a:extLst>
          </p:cNvPr>
          <p:cNvSpPr/>
          <p:nvPr/>
        </p:nvSpPr>
        <p:spPr>
          <a:xfrm>
            <a:off x="517890" y="663547"/>
            <a:ext cx="11086089" cy="76065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K</a:t>
            </a:r>
            <a:r>
              <a:rPr lang="en-IN" sz="3200" b="1" dirty="0" err="1">
                <a:solidFill>
                  <a:schemeClr val="accent1">
                    <a:lumMod val="50000"/>
                  </a:schemeClr>
                </a:solidFill>
              </a:rPr>
              <a:t>ey</a:t>
            </a: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 Performance Indicators</a:t>
            </a:r>
          </a:p>
        </p:txBody>
      </p:sp>
    </p:spTree>
    <p:extLst>
      <p:ext uri="{BB962C8B-B14F-4D97-AF65-F5344CB8AC3E}">
        <p14:creationId xmlns:p14="http://schemas.microsoft.com/office/powerpoint/2010/main" val="1944941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88FC1-BD0C-4789-435E-51D0E5766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745A10-E1BF-5886-5012-07F5CC762036}"/>
              </a:ext>
            </a:extLst>
          </p:cNvPr>
          <p:cNvSpPr txBox="1"/>
          <p:nvPr/>
        </p:nvSpPr>
        <p:spPr>
          <a:xfrm>
            <a:off x="517890" y="1690187"/>
            <a:ext cx="1123376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/>
              <a:t>Based on analysis:</a:t>
            </a:r>
          </a:p>
          <a:p>
            <a:pPr algn="just">
              <a:buNone/>
            </a:pPr>
            <a:endParaRPr lang="en-US" sz="2800" dirty="0"/>
          </a:p>
          <a:p>
            <a:pPr algn="just">
              <a:buFont typeface="+mj-lt"/>
              <a:buAutoNum type="arabicPeriod"/>
            </a:pPr>
            <a:r>
              <a:rPr lang="en-US" sz="2800" dirty="0"/>
              <a:t>Focus promotional campaigns on high-performing regions</a:t>
            </a:r>
          </a:p>
          <a:p>
            <a:pPr algn="just">
              <a:buFont typeface="+mj-lt"/>
              <a:buAutoNum type="arabicPeriod"/>
            </a:pPr>
            <a:r>
              <a:rPr lang="en-US" sz="2800" dirty="0"/>
              <a:t>Introduce loyalty incentives for long-term customers</a:t>
            </a:r>
          </a:p>
          <a:p>
            <a:pPr algn="just">
              <a:buFont typeface="+mj-lt"/>
              <a:buAutoNum type="arabicPeriod"/>
            </a:pPr>
            <a:r>
              <a:rPr lang="en-US" sz="2800" dirty="0"/>
              <a:t>Encourage extended subscription contracts</a:t>
            </a:r>
          </a:p>
          <a:p>
            <a:pPr algn="just">
              <a:buFont typeface="+mj-lt"/>
              <a:buAutoNum type="arabicPeriod"/>
            </a:pPr>
            <a:r>
              <a:rPr lang="en-US" sz="2800" dirty="0"/>
              <a:t>Apply data-driven pricing strategies in real estate decisions</a:t>
            </a:r>
          </a:p>
          <a:p>
            <a:pPr algn="just">
              <a:buFont typeface="+mj-lt"/>
              <a:buAutoNum type="arabicPeriod"/>
            </a:pPr>
            <a:r>
              <a:rPr lang="en-US" sz="2800" dirty="0"/>
              <a:t>Continuously monitor churn and revenue metrics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6F26E3-50B9-AF68-ED6A-20EFB49F2CC7}"/>
              </a:ext>
            </a:extLst>
          </p:cNvPr>
          <p:cNvSpPr/>
          <p:nvPr/>
        </p:nvSpPr>
        <p:spPr>
          <a:xfrm>
            <a:off x="517890" y="663547"/>
            <a:ext cx="11086089" cy="76065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B</a:t>
            </a:r>
            <a:r>
              <a:rPr lang="en-IN" sz="3200" b="1" dirty="0" err="1">
                <a:solidFill>
                  <a:schemeClr val="accent1">
                    <a:lumMod val="50000"/>
                  </a:schemeClr>
                </a:solidFill>
              </a:rPr>
              <a:t>usiness</a:t>
            </a: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310179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94E0F-FE19-7C60-FB84-726815CF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2DA7E2-A6C0-EE00-E4F5-A4D49B8AB7D5}"/>
              </a:ext>
            </a:extLst>
          </p:cNvPr>
          <p:cNvSpPr txBox="1"/>
          <p:nvPr/>
        </p:nvSpPr>
        <p:spPr>
          <a:xfrm>
            <a:off x="517890" y="1702786"/>
            <a:ext cx="111771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This project successfully demonstrated:</a:t>
            </a:r>
          </a:p>
          <a:p>
            <a:pPr algn="just"/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An end-to-end business analytics workflow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Practical application of data cleaning and EDA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Identification of meaningful business patterns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Generation of actionable recommendations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project highlights how structured data analysis supports data-driven decision-making.</a:t>
            </a:r>
          </a:p>
          <a:p>
            <a:pPr algn="just">
              <a:buNone/>
            </a:pPr>
            <a:endParaRPr lang="en-US" sz="2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5C4D8A-C4E2-9062-3331-99F89DE1BB7F}"/>
              </a:ext>
            </a:extLst>
          </p:cNvPr>
          <p:cNvSpPr/>
          <p:nvPr/>
        </p:nvSpPr>
        <p:spPr>
          <a:xfrm>
            <a:off x="517890" y="663547"/>
            <a:ext cx="11086089" cy="760651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lang="en-IN" sz="3200" b="1" dirty="0" err="1">
                <a:solidFill>
                  <a:schemeClr val="accent1">
                    <a:lumMod val="50000"/>
                  </a:schemeClr>
                </a:solidFill>
              </a:rPr>
              <a:t>onclusion</a:t>
            </a:r>
            <a:endParaRPr lang="en-IN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557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68996-B399-08FC-1117-58F8E66B5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0CD0E4-781A-BF0E-FC47-207542219217}"/>
              </a:ext>
            </a:extLst>
          </p:cNvPr>
          <p:cNvSpPr txBox="1"/>
          <p:nvPr/>
        </p:nvSpPr>
        <p:spPr>
          <a:xfrm>
            <a:off x="3420908" y="2767280"/>
            <a:ext cx="60973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0" dirty="0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5389439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www.w3.org/XML/1998/namespace"/>
    <ds:schemaRef ds:uri="71af3243-3dd4-4a8d-8c0d-dd76da1f02a5"/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46</TotalTime>
  <Words>490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Tenorite</vt:lpstr>
      <vt:lpstr>Monoline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Abinaya KN</dc:creator>
  <cp:lastModifiedBy>Abinaya KN</cp:lastModifiedBy>
  <cp:revision>1</cp:revision>
  <dcterms:created xsi:type="dcterms:W3CDTF">2026-03-01T17:41:25Z</dcterms:created>
  <dcterms:modified xsi:type="dcterms:W3CDTF">2026-03-01T18:28:13Z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